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5D904A-8E88-46F6-BA07-616F176BA3C9}">
  <a:tblStyle styleId="{8A5D904A-8E88-46F6-BA07-616F176BA3C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bdd5d327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bdd5d327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cfbdd5d327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fbdd5d327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fbdd5d327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fbdd5d327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bdd5d327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fbdd5d327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cfbdd5d327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fbdd5d327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fbdd5d327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cfbdd5d327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583652" y="1358350"/>
            <a:ext cx="5349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 Hardware</a:t>
            </a:r>
            <a:r>
              <a:rPr b="1" i="0" lang="en-US" sz="4600" u="none" cap="none" strike="noStrike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4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Advisor</a:t>
            </a:r>
            <a:endParaRPr b="0" i="0" sz="4600" u="none" cap="none" strike="noStrike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948450" y="2227150"/>
            <a:ext cx="49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Making </a:t>
            </a:r>
            <a:r>
              <a:rPr i="1" lang="en-US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1" lang="en-US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PC hardware accessible to everyone.</a:t>
            </a:r>
            <a:endParaRPr b="0" i="0" sz="2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54625" y="2760338"/>
            <a:ext cx="629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BCC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1,400+ YouTube videos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|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One conversation | Your perfect PC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minutes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4133088"/>
            <a:ext cx="2514600" cy="475488"/>
          </a:xfrm>
          <a:prstGeom prst="rect">
            <a:avLst/>
          </a:prstGeom>
          <a:solidFill>
            <a:srgbClr val="24304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11505" y="4160520"/>
            <a:ext cx="2514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1,400+ Videos</a:t>
            </a:r>
            <a:endParaRPr b="0" i="0" sz="13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46120" y="4133088"/>
            <a:ext cx="2514600" cy="475488"/>
          </a:xfrm>
          <a:prstGeom prst="rect">
            <a:avLst/>
          </a:prstGeom>
          <a:solidFill>
            <a:srgbClr val="24304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246120" y="4160533"/>
            <a:ext cx="2514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~33,000 Chunks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080760" y="4133088"/>
            <a:ext cx="2514600" cy="475488"/>
          </a:xfrm>
          <a:prstGeom prst="rect">
            <a:avLst/>
          </a:prstGeom>
          <a:solidFill>
            <a:srgbClr val="24304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6080760" y="4160520"/>
            <a:ext cx="2514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5 yrs → Last week</a:t>
            </a:r>
            <a:endParaRPr b="0" i="0" sz="1300" u="none" cap="none" strike="noStrike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777240"/>
            <a:ext cx="8229600" cy="20117"/>
          </a:xfrm>
          <a:prstGeom prst="rect">
            <a:avLst/>
          </a:prstGeom>
          <a:solidFill>
            <a:srgbClr val="D1D8E0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9144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How people currently find a PC: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353312"/>
            <a:ext cx="4846320" cy="822960"/>
          </a:xfrm>
          <a:prstGeom prst="rect">
            <a:avLst/>
          </a:prstGeom>
          <a:solidFill>
            <a:srgbClr val="FFF7ED"/>
          </a:solidFill>
          <a:ln cap="flat" cmpd="sng" w="1905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353312"/>
            <a:ext cx="109728" cy="8229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58368" y="1408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Buy a pre-built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58368" y="1682496"/>
            <a:ext cx="4526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Fast, but you lose control. Pay a premium. Get a more generic spec.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" y="2322576"/>
            <a:ext cx="4846320" cy="82296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57200" y="2322576"/>
            <a:ext cx="109728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658368" y="2377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PCPartPicker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58368" y="2651760"/>
            <a:ext cx="4526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Great compatibility checker — but you still need to know what parts you want. Intimidating for beginners.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291840"/>
            <a:ext cx="4846320" cy="822960"/>
          </a:xfrm>
          <a:prstGeom prst="rect">
            <a:avLst/>
          </a:prstGeom>
          <a:solidFill>
            <a:srgbClr val="F5F3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291840"/>
            <a:ext cx="109728" cy="8229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58368" y="33467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Ask ChatGPT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58368" y="3621024"/>
            <a:ext cx="4526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Returns a guide, a table, websites to visit. Useful for learning but doesn't configure your system. Multiple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steps 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 go through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 still on </a:t>
            </a:r>
            <a:r>
              <a:rPr b="0" i="0" lang="en-US" sz="1200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you.</a:t>
            </a:r>
            <a:endParaRPr b="0" i="0" sz="12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577840" y="914400"/>
            <a:ext cx="3154680" cy="3931920"/>
          </a:xfrm>
          <a:prstGeom prst="rect">
            <a:avLst/>
          </a:prstGeom>
          <a:solidFill>
            <a:srgbClr val="E6F7F6"/>
          </a:solidFill>
          <a:ln cap="flat" cmpd="sng" w="1905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577840" y="914400"/>
            <a:ext cx="3154680" cy="347472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669280" y="950976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gap nobody fills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669280" y="1353312"/>
            <a:ext cx="29260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 tool asks for your needs and configures directly for </a:t>
            </a:r>
            <a:r>
              <a:rPr lang="en-US" sz="12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user.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None chatbots are specialised in PC hardware knowledge especially</a:t>
            </a:r>
            <a:r>
              <a:rPr lang="en-US" sz="12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12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Timestamps</a:t>
            </a: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point you to the exact moment in a video</a:t>
            </a:r>
            <a:r>
              <a:rPr lang="en-US" sz="125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Everyone still ends up doing the research themselves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535424"/>
            <a:ext cx="8275320" cy="420624"/>
          </a:xfrm>
          <a:prstGeom prst="rect">
            <a:avLst/>
          </a:prstGeom>
          <a:solidFill>
            <a:srgbClr val="1A2332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640" y="4562856"/>
            <a:ext cx="8092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 hardware should be accessible to everyone — not just people who already know the parts.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777240"/>
            <a:ext cx="8229600" cy="20117"/>
          </a:xfrm>
          <a:prstGeom prst="rect">
            <a:avLst/>
          </a:prstGeom>
          <a:solidFill>
            <a:srgbClr val="D1D8E0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91440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PC Hardware Advisor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298448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Making PC hardware accessible to everyone.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719072"/>
            <a:ext cx="4389120" cy="658368"/>
          </a:xfrm>
          <a:prstGeom prst="rect">
            <a:avLst/>
          </a:prstGeom>
          <a:solidFill>
            <a:srgbClr val="FEF2F2"/>
          </a:solidFill>
          <a:ln cap="flat" cmpd="sng" w="152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470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1005840" y="177393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YouTube-Grounded Answers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05840" y="204825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Backed by 1,400+ videos from real reviewers</a:t>
            </a:r>
            <a:r>
              <a:rPr lang="en-US" sz="11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not hallucinated facts.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2468880"/>
            <a:ext cx="4389120" cy="658368"/>
          </a:xfrm>
          <a:prstGeom prst="rect">
            <a:avLst/>
          </a:prstGeom>
          <a:solidFill>
            <a:srgbClr val="FFFBEB"/>
          </a:solidFill>
          <a:ln cap="flat" cmpd="sng" w="152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59689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1005840" y="25237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Clickable Timestamps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05840" y="279806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Skip straight to the moment that answers your question. No more scrubbing 25-min videos.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3218688"/>
            <a:ext cx="4389120" cy="658368"/>
          </a:xfrm>
          <a:prstGeom prst="rect">
            <a:avLst/>
          </a:prstGeom>
          <a:solidFill>
            <a:srgbClr val="E6F7F6"/>
          </a:solidFill>
          <a:ln cap="flat" cmpd="sng" w="15225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34670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005840" y="32735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PC Configurator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05840" y="354787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9 questions → 1–4 complete builds with specs, metrics, pricing, and buy links.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57200" y="3968496"/>
            <a:ext cx="4389120" cy="658368"/>
          </a:xfrm>
          <a:prstGeom prst="rect">
            <a:avLst/>
          </a:prstGeom>
          <a:solidFill>
            <a:srgbClr val="F5F3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409651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005840" y="40233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Specialised, Not Generic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005840" y="429768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Unlike ChatGPT — it doesn't send you to research. It handles it for you, right now.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33850" y="1847100"/>
            <a:ext cx="4045349" cy="248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PC Configurator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457200" y="777240"/>
            <a:ext cx="8229600" cy="20117"/>
          </a:xfrm>
          <a:prstGeom prst="rect">
            <a:avLst/>
          </a:prstGeom>
          <a:solidFill>
            <a:srgbClr val="D1D8E0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You start here. Not in a research spiral.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457200" y="1353312"/>
            <a:ext cx="4114800" cy="3291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457200" y="1353312"/>
            <a:ext cx="4114800" cy="347472"/>
          </a:xfrm>
          <a:prstGeom prst="rect">
            <a:avLst/>
          </a:prstGeom>
          <a:solidFill>
            <a:srgbClr val="E5E7EB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548640" y="138074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ChatGPT / Gemini — "Let's build a PC"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566928" y="1773936"/>
            <a:ext cx="3886200" cy="2724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1. Define the Purpose (Most Important)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2. Set a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3. Choose the Platform (CPU + Motherboard)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4. Choose the Core Components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5. Check Compatibility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6. Assembly Order...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Useful for learning.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Still sends you to do the research.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 parts chosen for you.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4617850" y="1353300"/>
            <a:ext cx="4114800" cy="3291900"/>
          </a:xfrm>
          <a:prstGeom prst="rect">
            <a:avLst/>
          </a:prstGeom>
          <a:solidFill>
            <a:srgbClr val="E6F7F6"/>
          </a:solidFill>
          <a:ln cap="flat" cmpd="sng" w="1905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4617725" y="1353300"/>
            <a:ext cx="4114800" cy="347400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4754880" y="138074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 Hardware Advisor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4754880" y="1773936"/>
            <a:ext cx="385876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"Great choice! Let's get started."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Q1: What's your budget?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Q2: What will you use it for?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... 7 more targeted questions 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→ 1–4 complete builds generated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→ Specs, metrics, pricing, buy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→ Fully configured. Ready to order.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457200" y="4663440"/>
            <a:ext cx="8275320" cy="310896"/>
          </a:xfrm>
          <a:prstGeom prst="rect">
            <a:avLst/>
          </a:prstGeom>
          <a:solidFill>
            <a:srgbClr val="1A2332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457325" y="4672450"/>
            <a:ext cx="835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⚡  The entire configurator flow &gt; </a:t>
            </a:r>
            <a:r>
              <a:rPr b="1" lang="en-US" sz="1200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Two</a:t>
            </a: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 modes</a:t>
            </a:r>
            <a:r>
              <a:rPr b="1" lang="en-US" sz="1200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 &gt; </a:t>
            </a: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 9 questions, Generate builds, compatibility — lives in the system prompt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4386661" y="2770062"/>
            <a:ext cx="416400" cy="394200"/>
          </a:xfrm>
          <a:prstGeom prst="roundRect">
            <a:avLst>
              <a:gd fmla="val 16667" name="adj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Coding Journey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57200" y="777240"/>
            <a:ext cx="8229600" cy="20117"/>
          </a:xfrm>
          <a:prstGeom prst="rect">
            <a:avLst/>
          </a:prstGeom>
          <a:solidFill>
            <a:srgbClr val="D1D8E0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2644050" y="1366075"/>
            <a:ext cx="385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Three breakthroughs that shaped this project: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329165" y="1797711"/>
            <a:ext cx="26976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329165" y="1797711"/>
            <a:ext cx="2697600" cy="3657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420605" y="1834287"/>
            <a:ext cx="25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94925" y="1843431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Force the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466325" y="2254911"/>
            <a:ext cx="24231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Without tool_choice="required" the agent answered from memory — and made up specs.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One line of code. Massive quality improvement.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227895" y="1797711"/>
            <a:ext cx="26976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3227895" y="1797711"/>
            <a:ext cx="2697600" cy="365700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3319335" y="1834287"/>
            <a:ext cx="25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3593655" y="1843431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as State Machine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3365055" y="2254911"/>
            <a:ext cx="24231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full configurator 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Two 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Configuration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modes, 9 questions, build format, compatibility rules 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all lives in the system prompt.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Zero extra backend logic needed.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6126480" y="1797711"/>
            <a:ext cx="26976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6126480" y="1797711"/>
            <a:ext cx="2697600" cy="3657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6217920" y="1834287"/>
            <a:ext cx="25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6492240" y="1843431"/>
            <a:ext cx="219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 as a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6263640" y="2254911"/>
            <a:ext cx="24231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React parses hidden tags in the agent response to render build cards, images, sidebar state, and buy links.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chat becomes a fully structured interface.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457200" y="777240"/>
            <a:ext cx="8229600" cy="20117"/>
          </a:xfrm>
          <a:prstGeom prst="rect">
            <a:avLst/>
          </a:prstGeom>
          <a:solidFill>
            <a:srgbClr val="D1D8E0"/>
          </a:solidFill>
          <a:ln cap="flat" cmpd="sng" w="12700">
            <a:solidFill>
              <a:srgbClr val="D1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457200" y="96012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LangSmith EU  •  25 curated test examples  •  7 custom evaluators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11"/>
          <p:cNvGraphicFramePr/>
          <p:nvPr/>
        </p:nvGraphicFramePr>
        <p:xfrm>
          <a:off x="457175" y="16969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{8A5D904A-8E88-46F6-BA07-616F176BA3C9}</a:tableStyleId>
              </a:tblPr>
              <a:tblGrid>
                <a:gridCol w="1920250"/>
                <a:gridCol w="777250"/>
                <a:gridCol w="2148850"/>
              </a:tblGrid>
              <a:tr h="294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A3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A39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A398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configurator_mention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39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7A3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Triggers configurator appropriately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emulation_notice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39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7A3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Legal disclaimer for emulation queries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non_empty_response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7A398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7A3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Never returns a blank answer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scope_handling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63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563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Redirects out-of-scope gracefully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quality_score (LLM)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 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Overall quality, scored by GPT-4 judge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has_specs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 ⚠️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Includes specs when discussing hardware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has_timestamps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770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D977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 ⚠️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Links to YouTube moments (excl. OOS queries)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8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1"/>
          <p:cNvSpPr/>
          <p:nvPr/>
        </p:nvSpPr>
        <p:spPr>
          <a:xfrm>
            <a:off x="5577840" y="9601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Iterative Improvements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5577840" y="1316736"/>
            <a:ext cx="31546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Baseline recorded in LangSmith then every prompt change compared against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10+ system prompt versions iterated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Forced tool calling added → quality jump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17A39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Variety rules, component detection, performance metrics all improved incrementally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5577840" y="3246120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5577840" y="3584448"/>
            <a:ext cx="3154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has_timestamps at 0.56 — evaluator includes out-of-scope queries that don't need timestamps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EA580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Latency +2–3s when SerpAPI web search is triggered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Clr>
                <a:srgbClr val="EA580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More conversational warmth still to be added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459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/>
          <p:nvPr/>
        </p:nvSpPr>
        <p:spPr>
          <a:xfrm>
            <a:off x="1051560" y="146304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highlight>
                  <a:srgbClr val="F4F6F8"/>
                </a:highlight>
                <a:latin typeface="Calibri"/>
                <a:ea typeface="Calibri"/>
                <a:cs typeface="Calibri"/>
                <a:sym typeface="Calibri"/>
              </a:rPr>
              <a:t>Live </a:t>
            </a:r>
            <a:r>
              <a:rPr b="1" i="0" lang="en-US" sz="2800" u="none" cap="none" strike="noStrike">
                <a:solidFill>
                  <a:schemeClr val="dk1"/>
                </a:solidFill>
                <a:highlight>
                  <a:srgbClr val="F4F6F8"/>
                </a:highlight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2800" u="none" cap="none" strike="noStrike">
              <a:solidFill>
                <a:schemeClr val="dk1"/>
              </a:solidFill>
              <a:highlight>
                <a:srgbClr val="F4F6F8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57200" y="768096"/>
            <a:ext cx="8275320" cy="20117"/>
          </a:xfrm>
          <a:prstGeom prst="rect">
            <a:avLst/>
          </a:prstGeom>
          <a:solidFill>
            <a:srgbClr val="243044"/>
          </a:solidFill>
          <a:ln cap="flat" cmpd="sng" w="12700">
            <a:solidFill>
              <a:srgbClr val="2430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/>
          <p:cNvSpPr/>
          <p:nvPr/>
        </p:nvSpPr>
        <p:spPr>
          <a:xfrm>
            <a:off x="457200" y="960120"/>
            <a:ext cx="4069080" cy="3200400"/>
          </a:xfrm>
          <a:prstGeom prst="rect">
            <a:avLst/>
          </a:prstGeom>
          <a:solidFill>
            <a:srgbClr val="243044"/>
          </a:solidFill>
          <a:ln cap="flat" cmpd="sng" w="1905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457200" y="960120"/>
            <a:ext cx="4069080" cy="365760"/>
          </a:xfrm>
          <a:prstGeom prst="rect">
            <a:avLst/>
          </a:prstGeom>
          <a:solidFill>
            <a:srgbClr val="17A398"/>
          </a:solidFill>
          <a:ln cap="flat" cmpd="sng" w="127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594360" y="996696"/>
            <a:ext cx="3794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1 — Build It For 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594360" y="1426464"/>
            <a:ext cx="379476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Type: "I want a gaming PC for €1,200"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9 questions → configurator 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2–3 complete builds side by side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Pick one → direct buy links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4864608" y="960120"/>
            <a:ext cx="4069200" cy="3200400"/>
          </a:xfrm>
          <a:prstGeom prst="rect">
            <a:avLst/>
          </a:prstGeom>
          <a:solidFill>
            <a:srgbClr val="243044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4864608" y="960120"/>
            <a:ext cx="4069200" cy="3657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5001768" y="996696"/>
            <a:ext cx="3794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2 — </a:t>
            </a: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YouTube 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5001768" y="1426464"/>
            <a:ext cx="3794700" cy="25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Ask: "</a:t>
            </a: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can you tell me about the latest MacBooks right now?”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Click a timestamp → verify the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Ask follow-up — context is remembered</a:t>
            </a:r>
            <a:endParaRPr b="0" i="0" sz="1300" u="none" cap="none" strike="noStrike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                [ Screenshots below ]</a:t>
            </a:r>
            <a:endParaRPr sz="13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2"/>
          <p:cNvCxnSpPr/>
          <p:nvPr/>
        </p:nvCxnSpPr>
        <p:spPr>
          <a:xfrm>
            <a:off x="6481125" y="3263075"/>
            <a:ext cx="0" cy="5529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3" title="Youtube Video Playing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500" y="1144850"/>
            <a:ext cx="4454049" cy="275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3" title="Screenshot 2026-03-13 1743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050" y="1118113"/>
            <a:ext cx="4035299" cy="2806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3"/>
          <p:cNvCxnSpPr/>
          <p:nvPr/>
        </p:nvCxnSpPr>
        <p:spPr>
          <a:xfrm flipH="1" rot="10800000">
            <a:off x="1176825" y="2706450"/>
            <a:ext cx="3696600" cy="8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13"/>
          <p:cNvSpPr txBox="1"/>
          <p:nvPr/>
        </p:nvSpPr>
        <p:spPr>
          <a:xfrm>
            <a:off x="2483925" y="394900"/>
            <a:ext cx="445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Learn Through</a:t>
            </a:r>
            <a:r>
              <a:rPr b="1" lang="en-US" sz="1600"/>
              <a:t> Youtube </a:t>
            </a:r>
            <a:r>
              <a:rPr lang="en-US" sz="1600"/>
              <a:t>Timestamps</a:t>
            </a:r>
            <a:r>
              <a:rPr b="1" lang="en-US" sz="1600"/>
              <a:t>!</a:t>
            </a:r>
            <a:endParaRPr b="1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